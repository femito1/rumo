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94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9144000" cy="189280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18688"/>
            <a:ext cx="9144000" cy="4572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554480" cy="3730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24528" y="365760"/>
            <a:ext cx="27432" cy="566928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11480"/>
            <a:ext cx="1828800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 spc="300">
                <a:solidFill>
                  <a:srgbClr val="9B6400"/>
                </a:solidFill>
                <a:latin typeface="Calibri"/>
              </a:rPr>
              <a:t>MARCHINI BOTELHO CASELTA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111111"/>
                </a:solidFill>
                <a:latin typeface="Calibri"/>
              </a:rPr>
              <a:t>Relatório de Resultados – Fechamento do 1º Semestre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3230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Janeiro –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30" b="1" i="0">
                <a:solidFill>
                  <a:srgbClr val="FFFFFF"/>
                </a:solidFill>
                <a:latin typeface="Calibri"/>
              </a:rPr>
              <a:t>Resultado de Junho  |  YTD Jan–Jun  |  Comparativo 1S25 x 1S26  |  Rumo à Meta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888888"/>
                </a:solidFill>
                <a:latin typeface="Calibri"/>
              </a:rPr>
              <a:t>Elaborado por Rumo Gestão de Negócios  ·  Julho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4224528"/>
            <a:ext cx="2651760" cy="658368"/>
          </a:xfrm>
          <a:prstGeom prst="rect">
            <a:avLst/>
          </a:prstGeom>
          <a:solidFill>
            <a:srgbClr val="1A1A1A"/>
          </a:solidFill>
          <a:ln w="9525">
            <a:solidFill>
              <a:srgbClr val="333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4370832"/>
            <a:ext cx="1280160" cy="3072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Índice da Apresentação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4224528" cy="65836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50292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88136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11111"/>
                </a:solidFill>
                <a:latin typeface="Calibri"/>
              </a:rPr>
              <a:t>Resultado Institucional – Junho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3716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555555"/>
                </a:solidFill>
                <a:latin typeface="Calibri"/>
              </a:rPr>
              <a:t>Visão mensal com custos e reserva de bônus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9472" y="1005840"/>
            <a:ext cx="4224528" cy="65836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19472" y="1005840"/>
            <a:ext cx="50292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1005840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1088136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11111"/>
                </a:solidFill>
                <a:latin typeface="Calibri"/>
              </a:rPr>
              <a:t>Resultado Institucional – YTD Jan–Jun vs. 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13716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555555"/>
                </a:solidFill>
                <a:latin typeface="Calibri"/>
              </a:rPr>
              <a:t>Receita acumulada vs. meta com atingimento mensal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55648"/>
            <a:ext cx="4224528" cy="65836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1755648"/>
            <a:ext cx="50292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1755648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837943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11111"/>
                </a:solidFill>
                <a:latin typeface="Calibri"/>
              </a:rPr>
              <a:t>Análise YTD – Orçado vs. Realizado com Variações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12140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555555"/>
                </a:solidFill>
                <a:latin typeface="Calibri"/>
              </a:rPr>
              <a:t>Todas as linhas com Var R$ e Var% sinalizados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755648"/>
            <a:ext cx="4224528" cy="65836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19472" y="1755648"/>
            <a:ext cx="50292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19472" y="1755648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1837943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11111"/>
                </a:solidFill>
                <a:latin typeface="Calibri"/>
              </a:rPr>
              <a:t>Comparativo Semestral 2025 x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9552" y="212140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555555"/>
                </a:solidFill>
                <a:latin typeface="Calibri"/>
              </a:rPr>
              <a:t>Receita, despesas e resultado – 1S25 vs. 1S26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05456"/>
            <a:ext cx="4224528" cy="65836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2505456"/>
            <a:ext cx="50292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2505456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2587752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11111"/>
                </a:solidFill>
                <a:latin typeface="Calibri"/>
              </a:rPr>
              <a:t>Contencioso – Junho e YTD + DRE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87121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555555"/>
                </a:solidFill>
                <a:latin typeface="Calibri"/>
              </a:rPr>
              <a:t>Resultado mensal, metas e DRE com variações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19472" y="2505456"/>
            <a:ext cx="4224528" cy="65836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19472" y="2505456"/>
            <a:ext cx="50292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19472" y="2505456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9552" y="2587752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11111"/>
                </a:solidFill>
                <a:latin typeface="Calibri"/>
              </a:rPr>
              <a:t>Econômico – Junho e YTD + DRE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287121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555555"/>
                </a:solidFill>
                <a:latin typeface="Calibri"/>
              </a:rPr>
              <a:t>Resultado mensal, metas e DRE com variações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55264"/>
            <a:ext cx="4224528" cy="65836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3255264"/>
            <a:ext cx="50292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3255264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3337560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11111"/>
                </a:solidFill>
                <a:latin typeface="Calibri"/>
              </a:rPr>
              <a:t>Arbitragem &amp; Compliance – Junho e YTD + DRE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362102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555555"/>
                </a:solidFill>
                <a:latin typeface="Calibri"/>
              </a:rPr>
              <a:t>Resultado mensal, metas e DRE com variações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3255264"/>
            <a:ext cx="4224528" cy="65836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919472" y="3255264"/>
            <a:ext cx="50292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19472" y="3255264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9552" y="3337560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11111"/>
                </a:solidFill>
                <a:latin typeface="Calibri"/>
              </a:rPr>
              <a:t>Reserva de Bônus | Resumo Comparativo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9552" y="362102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555555"/>
                </a:solidFill>
                <a:latin typeface="Calibri"/>
              </a:rPr>
              <a:t>Consolidado YTD e visão por área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005072"/>
            <a:ext cx="4224528" cy="65836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65760" y="4005072"/>
            <a:ext cx="502920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4005072"/>
            <a:ext cx="502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4087368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11111"/>
                </a:solidFill>
                <a:latin typeface="Calibri"/>
              </a:rPr>
              <a:t>Pontos de Atenção – Rumo à Meta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43708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555555"/>
                </a:solidFill>
                <a:latin typeface="Calibri"/>
              </a:rPr>
              <a:t>O que precisa acontecer no 2S para bater o orçado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Resultado Institucional – Junho 2026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96012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" y="960120"/>
            <a:ext cx="54864" cy="86868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06984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Faturamento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71016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9B6400"/>
                </a:solidFill>
                <a:latin typeface="Calibri"/>
              </a:rPr>
              <a:t>R$ 1.090.965,00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1848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Orçado: R$ 671.667,00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5456" y="96012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05456" y="960120"/>
            <a:ext cx="54864" cy="86868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88336" y="106984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Receita Líquida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1271016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9B6400"/>
                </a:solidFill>
                <a:latin typeface="Calibri"/>
              </a:rPr>
              <a:t>R$ 265.019,00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161848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Orçado: R$ 671.667,00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96012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18304" y="960120"/>
            <a:ext cx="54864" cy="86868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1184" y="106984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Resultado Bruto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1271016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-R$ 51.689,00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4" y="161848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Margem: -19.5%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31152" y="96012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31152" y="960120"/>
            <a:ext cx="54864" cy="86868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14032" y="106984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Resultado Líquido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1271016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-R$ 99.559,00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161848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Mg. Líq.: -37.6%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" y="1993392"/>
            <a:ext cx="8558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Calibri"/>
              </a:rPr>
              <a:t>Detalhe Mensal – Resultado Institucional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2304288"/>
            <a:ext cx="8558784" cy="292608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2304288"/>
            <a:ext cx="1261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Indicador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72" y="2304288"/>
            <a:ext cx="92811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Calibri"/>
              </a:rPr>
              <a:t>Janeiro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56916" y="2304288"/>
            <a:ext cx="92811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Calibri"/>
              </a:rPr>
              <a:t>Fevereiro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59" y="2304288"/>
            <a:ext cx="92811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Calibri"/>
              </a:rPr>
              <a:t>Março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32603" y="2304288"/>
            <a:ext cx="92811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Calibri"/>
              </a:rPr>
              <a:t>Abril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7" y="2304288"/>
            <a:ext cx="92811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Calibri"/>
              </a:rPr>
              <a:t>Maio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8291" y="2304288"/>
            <a:ext cx="92811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Calibri"/>
              </a:rPr>
              <a:t>Junho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2304288"/>
            <a:ext cx="850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Calibri"/>
              </a:rPr>
              <a:t>YTD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2596896"/>
            <a:ext cx="12618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Faturamento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19072" y="2596896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444,5K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56916" y="2596896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534,8K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59" y="2596896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391,0K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32603" y="2596896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282,2K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0447" y="2596896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720,0K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8291" y="2596896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1.091,0K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46136" y="2596896"/>
            <a:ext cx="85039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Calibri"/>
              </a:rPr>
              <a:t>3.463,5K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" y="289773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2903220"/>
            <a:ext cx="12618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Receita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19072" y="290322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279,8K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56916" y="290322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319,2K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59" y="290322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612,5K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32603" y="290322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238,3K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70447" y="290322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415,9K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8291" y="290322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Calibri"/>
              </a:rPr>
              <a:t>265,0K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46136" y="2903220"/>
            <a:ext cx="85039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Calibri"/>
              </a:rPr>
              <a:t>2.130,8K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" y="3204057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7472" y="3209544"/>
            <a:ext cx="12618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Res. Bruto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19072" y="3209544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-31,6K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56916" y="3209544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0D6E3A"/>
                </a:solidFill>
                <a:latin typeface="Calibri"/>
              </a:rPr>
              <a:t>5,7K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59" y="3209544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0D6E3A"/>
                </a:solidFill>
                <a:latin typeface="Calibri"/>
              </a:rPr>
              <a:t>312,5K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32603" y="3209544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-81,4K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70447" y="3209544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0D6E3A"/>
                </a:solidFill>
                <a:latin typeface="Calibri"/>
              </a:rPr>
              <a:t>100,3K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8291" y="3209544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-51,7K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46136" y="3209544"/>
            <a:ext cx="85039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D6E3A"/>
                </a:solidFill>
                <a:latin typeface="Calibri"/>
              </a:rPr>
              <a:t>253,8K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2608" y="351038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92608" y="3515868"/>
            <a:ext cx="8558784" cy="306324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47472" y="3515868"/>
            <a:ext cx="12618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555555"/>
                </a:solidFill>
                <a:latin typeface="Calibri"/>
              </a:rPr>
              <a:t>Mg. Bruta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19072" y="3515868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-11.3%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56916" y="3515868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1.8%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4759" y="3515868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51.0%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32603" y="3515868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-34.2%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70447" y="3515868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24.1%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8291" y="3515868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-19.5%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46136" y="3515868"/>
            <a:ext cx="85039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555555"/>
                </a:solidFill>
                <a:latin typeface="Calibri"/>
              </a:rPr>
              <a:t>11.9%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2608" y="381670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47472" y="3822191"/>
            <a:ext cx="12618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Res. Líquido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19072" y="3822191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-81,7K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56916" y="3822191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-50,3K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4759" y="3822191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0D6E3A"/>
                </a:solidFill>
                <a:latin typeface="Calibri"/>
              </a:rPr>
              <a:t>212,5K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32603" y="3822191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-125,3K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70447" y="3822191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0D6E3A"/>
                </a:solidFill>
                <a:latin typeface="Calibri"/>
              </a:rPr>
              <a:t>29,8K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8291" y="3822191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-99,6K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46136" y="3822191"/>
            <a:ext cx="85039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C0392B"/>
                </a:solidFill>
                <a:latin typeface="Calibri"/>
              </a:rPr>
              <a:t>-114,5K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2608" y="412302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92608" y="4128515"/>
            <a:ext cx="8558784" cy="306324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47472" y="4128515"/>
            <a:ext cx="12618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0D6E3A"/>
                </a:solidFill>
                <a:latin typeface="Calibri"/>
              </a:rPr>
              <a:t>Mg. Líquida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19072" y="4128515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-29.2%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56916" y="4128515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-15.7%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94759" y="4128515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0D6E3A"/>
                </a:solidFill>
                <a:latin typeface="Calibri"/>
              </a:rPr>
              <a:t>34.7%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32603" y="4128515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-52.6%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70447" y="4128515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0D6E3A"/>
                </a:solidFill>
                <a:latin typeface="Calibri"/>
              </a:rPr>
              <a:t>7.2%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08291" y="4128515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-37.6%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46136" y="4128515"/>
            <a:ext cx="85039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C0392B"/>
                </a:solidFill>
                <a:latin typeface="Calibri"/>
              </a:rPr>
              <a:t>-5.4%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2608" y="442935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47472" y="4434840"/>
            <a:ext cx="12618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Reserva Bônus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19072" y="443484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-8,2K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56916" y="443484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-5,0K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94759" y="443484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0D6E3A"/>
                </a:solidFill>
                <a:latin typeface="Calibri"/>
              </a:rPr>
              <a:t>21,2K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32603" y="443484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-12,5K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70447" y="443484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0D6E3A"/>
                </a:solidFill>
                <a:latin typeface="Calibri"/>
              </a:rPr>
              <a:t>3,0K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08291" y="4434840"/>
            <a:ext cx="928116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C0392B"/>
                </a:solidFill>
                <a:latin typeface="Calibri"/>
              </a:rPr>
              <a:t>-10,0K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46136" y="4434840"/>
            <a:ext cx="85039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C0392B"/>
                </a:solidFill>
                <a:latin typeface="Calibri"/>
              </a:rPr>
              <a:t>-11,5K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2608" y="4735677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Resultado Institucional – YTD Jan–Jun vs. Meta (Receita)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96012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" y="960120"/>
            <a:ext cx="54864" cy="86868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06984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Receita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71016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R$ 2.130.831,00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1848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R$ 4.030.000,00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5456" y="96012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05456" y="960120"/>
            <a:ext cx="54864" cy="86868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88336" y="106984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Resultado Bruto YTD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1271016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D6E3A"/>
                </a:solidFill>
                <a:latin typeface="Calibri"/>
              </a:rPr>
              <a:t>R$ 253.819,00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161848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R$ 2.122.463,00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96012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18304" y="960120"/>
            <a:ext cx="54864" cy="86868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1184" y="106984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Resultado Líquido YTD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1271016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-R$ 114.508,00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4" y="161848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R$ 1.469.261,00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31152" y="960120"/>
            <a:ext cx="21214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31152" y="960120"/>
            <a:ext cx="54864" cy="86868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14032" y="106984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Margem Líquida YTD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1271016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-5.4%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1618488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36.5%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1965960"/>
            <a:ext cx="59893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084831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Calibri"/>
              </a:rPr>
              <a:t>Atingimento da Meta – Receita Líquida (Jan–Jun + YTD)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450591"/>
            <a:ext cx="11430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Janeiro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2450591"/>
            <a:ext cx="54864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41.7%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0280" y="2539419"/>
            <a:ext cx="297180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40280" y="2539419"/>
            <a:ext cx="1238071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85232" y="2450591"/>
            <a:ext cx="96012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-391,8K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756262"/>
            <a:ext cx="11430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Fevereiro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2756262"/>
            <a:ext cx="54864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47.5%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2845090"/>
            <a:ext cx="297180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40280" y="2845090"/>
            <a:ext cx="1412455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85232" y="2756262"/>
            <a:ext cx="96012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-352,4K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061933"/>
            <a:ext cx="11430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Março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3061933"/>
            <a:ext cx="54864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91.2%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3150761"/>
            <a:ext cx="297180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240280" y="3150761"/>
            <a:ext cx="2710023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85232" y="3061933"/>
            <a:ext cx="96012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-59,2K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367604"/>
            <a:ext cx="11430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Abril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3367604"/>
            <a:ext cx="54864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35.5%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3456431"/>
            <a:ext cx="297180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240280" y="3456431"/>
            <a:ext cx="1054481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85232" y="3367604"/>
            <a:ext cx="96012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-433,3K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3673275"/>
            <a:ext cx="11430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Maio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0200" y="3673275"/>
            <a:ext cx="54864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61.9%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40280" y="3762102"/>
            <a:ext cx="297180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240280" y="3762102"/>
            <a:ext cx="1840279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85232" y="3673275"/>
            <a:ext cx="96012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-255,7K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978946"/>
            <a:ext cx="11430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Junho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00200" y="3978946"/>
            <a:ext cx="54864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39.5%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0280" y="4067773"/>
            <a:ext cx="297180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240280" y="4067773"/>
            <a:ext cx="1172580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285232" y="3978946"/>
            <a:ext cx="96012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-406,6K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284617"/>
            <a:ext cx="11430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YTD Jan–Jun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00200" y="4284617"/>
            <a:ext cx="54864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52.9%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40280" y="4373444"/>
            <a:ext cx="297180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240280" y="4373444"/>
            <a:ext cx="1571316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85232" y="4284617"/>
            <a:ext cx="96012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-1.899,2K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1965960"/>
            <a:ext cx="2404872" cy="27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112264"/>
            <a:ext cx="237744" cy="23774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922008" y="2093976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DB913"/>
                </a:solidFill>
                <a:latin typeface="Calibri"/>
              </a:rPr>
              <a:t>Reserva Bônus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29400" y="2496312"/>
            <a:ext cx="9144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CCCC8"/>
                </a:solidFill>
                <a:latin typeface="Calibri"/>
              </a:rPr>
              <a:t>Jan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29400" y="2496312"/>
            <a:ext cx="2039112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-8,2K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29400" y="2796496"/>
            <a:ext cx="2039112" cy="5486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629400" y="2801982"/>
            <a:ext cx="9144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CCCC8"/>
                </a:solidFill>
                <a:latin typeface="Calibri"/>
              </a:rPr>
              <a:t>Fev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29400" y="2801982"/>
            <a:ext cx="2039112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-5,0K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29400" y="3102167"/>
            <a:ext cx="2039112" cy="5486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29400" y="3107653"/>
            <a:ext cx="9144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CCCC8"/>
                </a:solidFill>
                <a:latin typeface="Calibri"/>
              </a:rPr>
              <a:t>Mar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29400" y="3107653"/>
            <a:ext cx="2039112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D6E3A"/>
                </a:solidFill>
                <a:latin typeface="Calibri"/>
              </a:rPr>
              <a:t>21,2K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9400" y="3407838"/>
            <a:ext cx="2039112" cy="5486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629400" y="3413324"/>
            <a:ext cx="9144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CCCC8"/>
                </a:solidFill>
                <a:latin typeface="Calibri"/>
              </a:rPr>
              <a:t>Abr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29400" y="3413324"/>
            <a:ext cx="2039112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-12,5K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29400" y="3713509"/>
            <a:ext cx="2039112" cy="5486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629400" y="3718995"/>
            <a:ext cx="9144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CCCC8"/>
                </a:solidFill>
                <a:latin typeface="Calibri"/>
              </a:rPr>
              <a:t>Mai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29400" y="3718995"/>
            <a:ext cx="2039112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D6E3A"/>
                </a:solidFill>
                <a:latin typeface="Calibri"/>
              </a:rPr>
              <a:t>3,0K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4019179"/>
            <a:ext cx="2039112" cy="5486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629400" y="4024666"/>
            <a:ext cx="9144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CCCC8"/>
                </a:solidFill>
                <a:latin typeface="Calibri"/>
              </a:rPr>
              <a:t>Jun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400" y="4024666"/>
            <a:ext cx="2039112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-10,0K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29400" y="4324850"/>
            <a:ext cx="2039112" cy="5486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629400" y="4330337"/>
            <a:ext cx="914400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CCCC8"/>
                </a:solidFill>
                <a:latin typeface="Calibri"/>
              </a:rPr>
              <a:t>YTD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29400" y="4330337"/>
            <a:ext cx="2039112" cy="30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-11,5K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29400" y="4630521"/>
            <a:ext cx="2039112" cy="5486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Análise YTD Jan–Jun 2026 – Orçado vs. Realizado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914400"/>
            <a:ext cx="8558784" cy="23774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914400"/>
            <a:ext cx="2907791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Descrição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914400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Orçado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914400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Realizado YTD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914400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Variação R$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914400"/>
            <a:ext cx="9052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Var%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914400"/>
            <a:ext cx="164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2608" y="1152144"/>
            <a:ext cx="8558784" cy="176479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1152144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1" i="0">
                <a:solidFill>
                  <a:srgbClr val="111111"/>
                </a:solidFill>
                <a:latin typeface="Calibri"/>
              </a:rPr>
              <a:t>Receita Líquida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1" y="1152144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111111"/>
                </a:solidFill>
                <a:latin typeface="Calibri"/>
              </a:rPr>
              <a:t>4.030,0K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1152144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111111"/>
                </a:solidFill>
                <a:latin typeface="Calibri"/>
              </a:rPr>
              <a:t>2.130,8K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1152144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-1.899,2K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1152144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-47.1%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1323136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1328623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Custos Diretos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1" y="1328623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1.228,6K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1328623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1.258,2K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1328623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+29,7K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1328623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C0392B"/>
                </a:solidFill>
                <a:latin typeface="Calibri"/>
              </a:rPr>
              <a:t>+2.4%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1499616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1505102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Custo Eq. – Contencioso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505102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449,3K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1505102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447,7K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1505102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0D6E3A"/>
                </a:solidFill>
                <a:latin typeface="Calibri"/>
              </a:rPr>
              <a:t>-1,6K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1505102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0D6E3A"/>
                </a:solidFill>
                <a:latin typeface="Calibri"/>
              </a:rPr>
              <a:t>-0.4%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167609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" y="1681581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Custo Eq. – Econômico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1" y="1681581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455,4K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1681581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469,7K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1681581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+14,3K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1681581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C0392B"/>
                </a:solidFill>
                <a:latin typeface="Calibri"/>
              </a:rPr>
              <a:t>+3.1%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1852574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1858060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Custo Eq. – Arbitragem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4991" y="1858060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323,9K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1858060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336,8K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1858060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+12,9K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1858060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C0392B"/>
                </a:solidFill>
                <a:latin typeface="Calibri"/>
              </a:rPr>
              <a:t>+4.0%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202905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7472" y="2034540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Despesas Indiretas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64991" y="2034540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679,0K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82312" y="2034540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618,8K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1" y="2034540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0D6E3A"/>
                </a:solidFill>
                <a:latin typeface="Calibri"/>
              </a:rPr>
              <a:t>-60,2K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6952" y="2034540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0D6E3A"/>
                </a:solidFill>
                <a:latin typeface="Calibri"/>
              </a:rPr>
              <a:t>-8.9%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" y="2205532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7472" y="2211019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Ocupação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64991" y="2211019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199,4K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82312" y="2211019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209,3K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9631" y="2211019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+9,9K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6952" y="2211019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C0392B"/>
                </a:solidFill>
                <a:latin typeface="Calibri"/>
              </a:rPr>
              <a:t>+5.0%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" y="2382012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7472" y="2387498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Telecomunicações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64991" y="2387498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5,1K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82312" y="2387498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4,9K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9631" y="2387498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0D6E3A"/>
                </a:solidFill>
                <a:latin typeface="Calibri"/>
              </a:rPr>
              <a:t>-0,2K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16952" y="2387498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0D6E3A"/>
                </a:solidFill>
                <a:latin typeface="Calibri"/>
              </a:rPr>
              <a:t>-3.8%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" y="255849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47472" y="2563977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Despesas Gerais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64991" y="2563977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37,2K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82312" y="2563977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36,7K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9631" y="2563977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0D6E3A"/>
                </a:solidFill>
                <a:latin typeface="Calibri"/>
              </a:rPr>
              <a:t>-0,6K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16952" y="2563977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0D6E3A"/>
                </a:solidFill>
                <a:latin typeface="Calibri"/>
              </a:rPr>
              <a:t>-1.5%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" y="2734970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47472" y="2740456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Consultoria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64991" y="2740456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138,5K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82312" y="2740456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142,4K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99631" y="2740456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+3,9K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16952" y="2740456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C0392B"/>
                </a:solidFill>
                <a:latin typeface="Calibri"/>
              </a:rPr>
              <a:t>+2.8%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2608" y="291144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47472" y="2916936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Salários Adm.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64991" y="2916936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43,7K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82312" y="2916936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50,1K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99631" y="2916936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+6,4K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16952" y="2916936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C0392B"/>
                </a:solidFill>
                <a:latin typeface="Calibri"/>
              </a:rPr>
              <a:t>+14.6%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" y="3087928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47472" y="3093415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Administrativas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64991" y="3093415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53,1K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82312" y="3093415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41,6K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9631" y="3093415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0D6E3A"/>
                </a:solidFill>
                <a:latin typeface="Calibri"/>
              </a:rPr>
              <a:t>-11,4K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16952" y="3093415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0D6E3A"/>
                </a:solidFill>
                <a:latin typeface="Calibri"/>
              </a:rPr>
              <a:t>-21.5%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2608" y="3264408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47472" y="3269894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Invest. Prospecção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4991" y="3269894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34,5K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82312" y="3269894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7,3K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99631" y="3269894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0D6E3A"/>
                </a:solidFill>
                <a:latin typeface="Calibri"/>
              </a:rPr>
              <a:t>-27,2K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16952" y="3269894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0D6E3A"/>
                </a:solidFill>
                <a:latin typeface="Calibri"/>
              </a:rPr>
              <a:t>-78.8%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2608" y="3440887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47472" y="3446373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Endomarketing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64991" y="3446373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0,6K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82312" y="3446373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0,6K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99631" y="3446373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+0,0K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16952" y="3446373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C0392B"/>
                </a:solidFill>
                <a:latin typeface="Calibri"/>
              </a:rPr>
              <a:t>+1.5%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2608" y="3617366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47472" y="3622852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Gestão do Conhecimento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64991" y="3622852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0,1K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82312" y="3622852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6,0K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99631" y="3622852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+5,8K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16952" y="3622852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C0392B"/>
                </a:solidFill>
                <a:latin typeface="Calibri"/>
              </a:rPr>
              <a:t>+3891.3%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92608" y="379384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47472" y="3799332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Informática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64991" y="3799332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166,8K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82312" y="3799332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119,9K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99631" y="3799332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0D6E3A"/>
                </a:solidFill>
                <a:latin typeface="Calibri"/>
              </a:rPr>
              <a:t>-46,9K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16952" y="3799332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0D6E3A"/>
                </a:solidFill>
                <a:latin typeface="Calibri"/>
              </a:rPr>
              <a:t>-28.1%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92608" y="3970324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292608" y="3975811"/>
            <a:ext cx="8558784" cy="176479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347472" y="3975811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1" i="0">
                <a:solidFill>
                  <a:srgbClr val="111111"/>
                </a:solidFill>
                <a:latin typeface="Calibri"/>
              </a:rPr>
              <a:t>Resultado Bruto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64991" y="3975811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111111"/>
                </a:solidFill>
                <a:latin typeface="Calibri"/>
              </a:rPr>
              <a:t>2.122,5K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82312" y="3975811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111111"/>
                </a:solidFill>
                <a:latin typeface="Calibri"/>
              </a:rPr>
              <a:t>253,8K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99631" y="3975811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-1.868,6K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16952" y="3975811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C0392B"/>
                </a:solidFill>
                <a:latin typeface="Calibri"/>
              </a:rPr>
              <a:t>-88.0%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92608" y="414680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47472" y="4152290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Impostos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64991" y="4152290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604,5K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82312" y="4152290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319,6K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99631" y="4152290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0D6E3A"/>
                </a:solidFill>
                <a:latin typeface="Calibri"/>
              </a:rPr>
              <a:t>-284,9K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16952" y="4152290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0D6E3A"/>
                </a:solidFill>
                <a:latin typeface="Calibri"/>
              </a:rPr>
              <a:t>-47.1%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92608" y="432328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47472" y="4328769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i="0">
                <a:solidFill>
                  <a:srgbClr val="111111"/>
                </a:solidFill>
                <a:latin typeface="Calibri"/>
              </a:rPr>
              <a:t>Invest./Amortização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64991" y="4328769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48,7K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82312" y="4328769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111111"/>
                </a:solidFill>
                <a:latin typeface="Calibri"/>
              </a:rPr>
              <a:t>48,7K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9631" y="4328769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0D6E3A"/>
                </a:solidFill>
                <a:latin typeface="Calibri"/>
              </a:rPr>
              <a:t>+0,0K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616952" y="4328769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0" i="0">
                <a:solidFill>
                  <a:srgbClr val="0D6E3A"/>
                </a:solidFill>
                <a:latin typeface="Calibri"/>
              </a:rPr>
              <a:t>+0.0%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92608" y="4499762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292608" y="4505248"/>
            <a:ext cx="8558784" cy="17647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47472" y="4505248"/>
            <a:ext cx="2907791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1" i="0">
                <a:solidFill>
                  <a:srgbClr val="FFFFFF"/>
                </a:solidFill>
                <a:latin typeface="Calibri"/>
              </a:rPr>
              <a:t>Resultado Líquido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64991" y="4505248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FFFFFF"/>
                </a:solidFill>
                <a:latin typeface="Calibri"/>
              </a:rPr>
              <a:t>1.469,3K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82312" y="4505248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FFFFFF"/>
                </a:solidFill>
                <a:latin typeface="Calibri"/>
              </a:rPr>
              <a:t>-114,5K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99631" y="4505248"/>
            <a:ext cx="1307592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FDB913"/>
                </a:solidFill>
                <a:latin typeface="Calibri"/>
              </a:rPr>
              <a:t>-1.583,8K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616952" y="4505248"/>
            <a:ext cx="905256" cy="176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69" b="1" i="0">
                <a:solidFill>
                  <a:srgbClr val="FDB913"/>
                </a:solidFill>
                <a:latin typeface="Calibri"/>
              </a:rPr>
              <a:t>-107.8%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92608" y="467624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8668511" y="1194663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8668511" y="1371142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8668511" y="1547622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8668511" y="1724101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8668511" y="1900580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8668511" y="2077059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8668511" y="2253538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8668511" y="2430018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8668511" y="2606497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8668511" y="2782976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8668511" y="2959455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8668511" y="3135934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8668511" y="3312414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8668511" y="3488893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8668511" y="3665372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8668511" y="3841851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8668511" y="401833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8668511" y="4194809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8668511" y="4371289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8668511" y="4547768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310896" y="48006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57200" y="47457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Desvio crítico</a:t>
            </a:r>
          </a:p>
        </p:txBody>
      </p:sp>
      <p:sp>
        <p:nvSpPr>
          <p:cNvPr id="160" name="Oval 159"/>
          <p:cNvSpPr/>
          <p:nvPr/>
        </p:nvSpPr>
        <p:spPr>
          <a:xfrm>
            <a:off x="1783080" y="4800600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929384" y="47457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Atenção</a:t>
            </a:r>
          </a:p>
        </p:txBody>
      </p:sp>
      <p:sp>
        <p:nvSpPr>
          <p:cNvPr id="162" name="Oval 161"/>
          <p:cNvSpPr/>
          <p:nvPr/>
        </p:nvSpPr>
        <p:spPr>
          <a:xfrm>
            <a:off x="3017520" y="4800600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163824" y="474573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Economia / acima da meta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229600" y="493776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Comparativo Semestral – 1S 2025 x 1S 2026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932688"/>
            <a:ext cx="212140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" y="932688"/>
            <a:ext cx="54864" cy="841248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042416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Receita 1S26 vs 1S25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43584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R$ 2.130.831,00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591056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1S25: R$ 3.025.309,00  (-29.6%)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5456" y="932688"/>
            <a:ext cx="212140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05456" y="932688"/>
            <a:ext cx="54864" cy="841248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88336" y="1042416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Despesas 1S26 vs 1S25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1243584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D6E3A"/>
                </a:solidFill>
                <a:latin typeface="Calibri"/>
              </a:rPr>
              <a:t>R$ 1.877.012,00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1591056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1S25: R$ 2.288.296,00  (-18.0%)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932688"/>
            <a:ext cx="212140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18304" y="932688"/>
            <a:ext cx="54864" cy="841248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1184" y="1042416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Resultado Líq. 1S26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1243584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-R$ 114.508,00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4" y="1591056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1S25: R$ 234.514,00  (-349,0K)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31152" y="932688"/>
            <a:ext cx="212140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31152" y="932688"/>
            <a:ext cx="54864" cy="841248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14032" y="1042416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Virada de Resultado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1243584"/>
            <a:ext cx="1883663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-349,0K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1591056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Queda YoY do Res. Líquido do semestre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" y="1920240"/>
            <a:ext cx="8558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Calibri"/>
              </a:rPr>
              <a:t>Receita e Resultado Líquido por Área – 1S25 x 1S26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2194560"/>
            <a:ext cx="8293608" cy="29260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2194560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1" i="0">
                <a:solidFill>
                  <a:srgbClr val="FFFFFF"/>
                </a:solidFill>
                <a:latin typeface="Calibri"/>
              </a:rPr>
              <a:t>Área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2194560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30" b="1" i="0">
                <a:solidFill>
                  <a:srgbClr val="FFFFFF"/>
                </a:solidFill>
                <a:latin typeface="Calibri"/>
              </a:rPr>
              <a:t>Rec. 1S25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5224" y="2194560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30" b="1" i="0">
                <a:solidFill>
                  <a:srgbClr val="FFFFFF"/>
                </a:solidFill>
                <a:latin typeface="Calibri"/>
              </a:rPr>
              <a:t>Rec. 1S26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5656" y="2194560"/>
            <a:ext cx="850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30" b="1" i="0">
                <a:solidFill>
                  <a:srgbClr val="FFFFFF"/>
                </a:solidFill>
                <a:latin typeface="Calibri"/>
              </a:rPr>
              <a:t>Var%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5776" y="2194560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30" b="1" i="0">
                <a:solidFill>
                  <a:srgbClr val="FFFFFF"/>
                </a:solidFill>
                <a:latin typeface="Calibri"/>
              </a:rPr>
              <a:t>RL 1S25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194560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30" b="1" i="0">
                <a:solidFill>
                  <a:srgbClr val="FFFFFF"/>
                </a:solidFill>
                <a:latin typeface="Calibri"/>
              </a:rPr>
              <a:t>RL 1S26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194560"/>
            <a:ext cx="1124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30" b="1" i="0">
                <a:solidFill>
                  <a:srgbClr val="FFFFFF"/>
                </a:solidFill>
                <a:latin typeface="Calibri"/>
              </a:rPr>
              <a:t>Var. RL R$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2487168"/>
            <a:ext cx="8293608" cy="3657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" y="2487168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Institucional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64792" y="2487168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3.025,3K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35224" y="2487168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2.130,8K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5656" y="2487168"/>
            <a:ext cx="8503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DB913"/>
                </a:solidFill>
                <a:latin typeface="Calibri"/>
              </a:rPr>
              <a:t>-29.6%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65776" y="2487168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234,5K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2487168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-114,5K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2487168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DB913"/>
                </a:solidFill>
                <a:latin typeface="Calibri"/>
              </a:rPr>
              <a:t>-349,0K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2847441"/>
            <a:ext cx="8293608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92608" y="2852927"/>
            <a:ext cx="8293608" cy="36576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2852927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Contencioso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64792" y="285292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11111"/>
                </a:solidFill>
                <a:latin typeface="Calibri"/>
              </a:rPr>
              <a:t>843,1K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35224" y="285292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11111"/>
                </a:solidFill>
                <a:latin typeface="Calibri"/>
              </a:rPr>
              <a:t>690,8K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05656" y="2852927"/>
            <a:ext cx="8503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-18.1%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65776" y="285292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-34,4K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285292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-95,8K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852927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-61,4K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" y="3213201"/>
            <a:ext cx="8293608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7472" y="3218687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Econômico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64792" y="321868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11111"/>
                </a:solidFill>
                <a:latin typeface="Calibri"/>
              </a:rPr>
              <a:t>1.142,9K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35224" y="321868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11111"/>
                </a:solidFill>
                <a:latin typeface="Calibri"/>
              </a:rPr>
              <a:t>956,1K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05656" y="3218687"/>
            <a:ext cx="8503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-16.3%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65776" y="321868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D6E3A"/>
                </a:solidFill>
                <a:latin typeface="Calibri"/>
              </a:rPr>
              <a:t>36,0K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8" y="321868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D6E3A"/>
                </a:solidFill>
                <a:latin typeface="Calibri"/>
              </a:rPr>
              <a:t>94,4K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3218687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D6E3A"/>
                </a:solidFill>
                <a:latin typeface="Calibri"/>
              </a:rPr>
              <a:t>+58,5K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" y="3578961"/>
            <a:ext cx="8293608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92608" y="3584447"/>
            <a:ext cx="8293608" cy="36576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47472" y="3584447"/>
            <a:ext cx="13075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Arbitragem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64792" y="358444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11111"/>
                </a:solidFill>
                <a:latin typeface="Calibri"/>
              </a:rPr>
              <a:t>1.039,3K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5224" y="358444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11111"/>
                </a:solidFill>
                <a:latin typeface="Calibri"/>
              </a:rPr>
              <a:t>457,2K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05656" y="3584447"/>
            <a:ext cx="8503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-56.0%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6" y="358444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D6E3A"/>
                </a:solidFill>
                <a:latin typeface="Calibri"/>
              </a:rPr>
              <a:t>232,9K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36208" y="3584447"/>
            <a:ext cx="10607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-135,9K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06640" y="3584447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-368,8K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608" y="3944721"/>
            <a:ext cx="8293608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92608" y="4078224"/>
            <a:ext cx="8558784" cy="7315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92608" y="4078224"/>
            <a:ext cx="64008" cy="73152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920" y="4133087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FDB913"/>
                </a:solidFill>
                <a:latin typeface="Calibri"/>
              </a:rPr>
              <a:t>O achado do semestre: a queda não está distribuída — está concentrada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4389120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DDDDD8"/>
                </a:solidFill>
                <a:latin typeface="Calibri"/>
              </a:rPr>
              <a:t>Contencioso e Econômico somados praticamente empataram entre os dois anos (-R$ 2,9K de diferença). Toda a piora do resultado institucional do semestre (-R$ 349K) vem de uma única área: Arbitragem, que saiu de +R$ 233K (1S25) para -R$ 136K (1S26) — uma reversão de quase R$ 369K.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Contencioso – Junho 2026 e YTD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914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B6400"/>
                </a:solidFill>
                <a:latin typeface="Calibri"/>
              </a:rPr>
              <a:t>Junho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17043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2801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117957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9B6400"/>
                </a:solidFill>
                <a:latin typeface="Calibri"/>
              </a:rPr>
              <a:t>R$ 36.381,00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82880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R$ 251.875,00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17043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83080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0" y="12801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Res. Bruto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72" y="1481328"/>
            <a:ext cx="117957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-R$ 74.049,00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82880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Mg: -203.5%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73552" y="117043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73552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12801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Res. Líquido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1481328"/>
            <a:ext cx="117957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-R$ 82.416,00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82880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Mg: -226.5%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914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B6400"/>
                </a:solidFill>
                <a:latin typeface="Calibri"/>
              </a:rPr>
              <a:t>YTD Jan–Jun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1170432"/>
            <a:ext cx="1600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0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0" y="128016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Receita YTD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1481328"/>
            <a:ext cx="136245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R$ 690.822,00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182880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R$ 1.511.250,00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2552" y="1170432"/>
            <a:ext cx="1600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702552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85432" y="128016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Res. Líq. YTD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1481328"/>
            <a:ext cx="136245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-R$ 95.768,00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182880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Acumulado Jan–Jun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213969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Calibri"/>
              </a:rPr>
              <a:t>Atingimento da Meta – Receita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" y="2505456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Jan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2505456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15.1%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92808" y="2577301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892808" y="2577301"/>
            <a:ext cx="297155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0" y="2505456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-213,8K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277716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Fev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2728" y="2777163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63.3%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92808" y="2849009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892808" y="2849009"/>
            <a:ext cx="1245249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31920" y="277716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-92,3K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" y="304887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Mar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52728" y="3048870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63.5%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92808" y="3120716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892808" y="3120716"/>
            <a:ext cx="1248262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31920" y="304887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-92,0K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3320578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Abr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2728" y="3320578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22.4%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92808" y="3392424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892808" y="3392424"/>
            <a:ext cx="440695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31920" y="3320578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-195,4K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" y="3592285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Mai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52728" y="3592285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95.5%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92808" y="3664131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892808" y="3664131"/>
            <a:ext cx="1876745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31920" y="3592285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-11,4K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" y="386399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Jun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2728" y="3863993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14.4%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92808" y="3935838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892808" y="3935838"/>
            <a:ext cx="283964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31920" y="386399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-215,5K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" y="413570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YTD Acum.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52728" y="4135700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45.7%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92808" y="4207546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892808" y="4207546"/>
            <a:ext cx="898678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931920" y="413570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-820,4K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0" y="2139696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Calibri"/>
              </a:rPr>
              <a:t>Detalhe de Custos – YTD Jan–Jun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37760" y="2414016"/>
            <a:ext cx="4206240" cy="27432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92624" y="241401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Calibri"/>
              </a:rPr>
              <a:t>Indicador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47104" y="2414016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Calibri"/>
              </a:rPr>
              <a:t>Orçado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61504" y="2414016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Calibri"/>
              </a:rPr>
              <a:t>Realizado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21624" y="241401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Calibri"/>
              </a:rPr>
              <a:t>Var%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92624" y="2688336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Receita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47104" y="268833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1.511,2K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61504" y="2688336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690,8K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21624" y="2688336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-54.3%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37760" y="2993745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92624" y="2999232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Custo Equipe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47104" y="2999232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449,3K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61504" y="2999232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447,7K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21624" y="2999232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-0.4%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7760" y="3304641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992624" y="3310127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Desp. Equipe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47104" y="3310127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25,9K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61504" y="3310127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14,4K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21624" y="3310127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-44.2%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37760" y="3615537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992624" y="3621023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Desp. Inst.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47104" y="3621023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220,4K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1504" y="3621023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203,4K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21624" y="3621023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-7.7%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3926433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937760" y="3931920"/>
            <a:ext cx="4206240" cy="310896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992624" y="3931920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Res. Bruto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47104" y="3931920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815,6K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61504" y="3931920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25,2K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21624" y="3931920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-96.9%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37760" y="4237329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937760" y="4242816"/>
            <a:ext cx="4206240" cy="310896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92624" y="4242816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Res. Líquido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47104" y="424281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570,9K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61504" y="4242816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-95,8K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21624" y="4242816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-116.8%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937760" y="4548225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92608" y="4572000"/>
            <a:ext cx="4480560" cy="3657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02336" y="45720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FDB913"/>
                </a:solidFill>
                <a:latin typeface="Calibri"/>
              </a:rPr>
              <a:t>Reserva Bônus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81328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Jan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81328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-7,9K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951590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Fev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51590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D6E3A"/>
                </a:solidFill>
                <a:latin typeface="Calibri"/>
              </a:rPr>
              <a:t>2,4K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21853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Mar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21853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D6E3A"/>
                </a:solidFill>
                <a:latin typeface="Calibri"/>
              </a:rPr>
              <a:t>2,3K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892116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Abr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92116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-7,1K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62379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Mai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62379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D6E3A"/>
                </a:solidFill>
                <a:latin typeface="Calibri"/>
              </a:rPr>
              <a:t>9,0K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32642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Jun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832642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-8,2K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02905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YTD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02905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-9,6K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DRE Contencioso – YTD Jan–Jun: Orçado vs. Realizado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960120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Descrição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960120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Orçado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960120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Realizado YTD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960120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Variação R$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960120"/>
            <a:ext cx="9052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Var%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96012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2608" y="1216152"/>
            <a:ext cx="8558784" cy="21488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1216152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Receita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1" y="1216152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1.511,2K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1216152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690,8K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1216152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-820,4K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1216152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-54.3%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142554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1431036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Custo Equipe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1" y="1431036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449,3K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1431036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447,7K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1431036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-1,6K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1431036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-0.4%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164043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1645919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Participação/Comissão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64591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0,0K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164591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0,0K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164591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+0,0K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1645919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1855317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" y="1860803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Despesas Equipe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1" y="186080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25,9K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186080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14,4K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186080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-11,4K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1860803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-44.2%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207020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2075687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Despesas Institucionais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4991" y="207568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220,4K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207568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203,4K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207568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-17,0K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2075687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-7.7%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228508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92608" y="2290571"/>
            <a:ext cx="8558784" cy="21488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2290571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Resultado Bruto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4991" y="229057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815,6K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82312" y="229057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25,2K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1" y="229057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-790,4K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6952" y="2290571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-96.9%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" y="249996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92608" y="2505455"/>
            <a:ext cx="8558784" cy="214884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7472" y="2505455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Margem Bruta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1" y="250545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54.0%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82312" y="250545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9631" y="250545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-50.3pp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6952" y="2505455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" y="271485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2720339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Impostos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64991" y="272033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226,7K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82312" y="272033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103,6K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9631" y="272033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-123,1K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16952" y="2720339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-54.3%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" y="2929737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47472" y="2935223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Invest./Amortização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64991" y="293522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18,0K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82312" y="293522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17,4K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9631" y="293522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-0,6K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16952" y="2935223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-3.4%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608" y="314462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92608" y="3150107"/>
            <a:ext cx="8558784" cy="21488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47472" y="3150107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Resultado Líquido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4991" y="315010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570,9K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82312" y="315010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-95,8K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9631" y="315010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DB913"/>
                </a:solidFill>
                <a:latin typeface="Calibri"/>
              </a:rPr>
              <a:t>-666,7K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16952" y="3150107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DB913"/>
                </a:solidFill>
                <a:latin typeface="Calibri"/>
              </a:rPr>
              <a:t>-116.8%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2608" y="335950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92608" y="3364991"/>
            <a:ext cx="8558784" cy="214884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47472" y="3364991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Margem Líquida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64991" y="336499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37.8%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82312" y="336499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-13.9%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99631" y="336499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-51.6pp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16952" y="3364991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2608" y="357438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47472" y="3579875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Reserva de Bônus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64991" y="357987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57,1K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82312" y="357987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-9,6K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99631" y="357987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-66,7K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16952" y="3579875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-116.8%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2608" y="378927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668511" y="127787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8668511" y="1492757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8668511" y="1707641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8668511" y="1922526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668511" y="2137410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668511" y="235229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8668511" y="2782061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8668511" y="2996945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668511" y="3211829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668511" y="3641597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310896" y="4681728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57200" y="462686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Desvio crítico</a:t>
            </a:r>
          </a:p>
        </p:txBody>
      </p:sp>
      <p:sp>
        <p:nvSpPr>
          <p:cNvPr id="104" name="Oval 103"/>
          <p:cNvSpPr/>
          <p:nvPr/>
        </p:nvSpPr>
        <p:spPr>
          <a:xfrm>
            <a:off x="1783080" y="4681728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929384" y="4626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Atenção</a:t>
            </a:r>
          </a:p>
        </p:txBody>
      </p:sp>
      <p:sp>
        <p:nvSpPr>
          <p:cNvPr id="106" name="Oval 105"/>
          <p:cNvSpPr/>
          <p:nvPr/>
        </p:nvSpPr>
        <p:spPr>
          <a:xfrm>
            <a:off x="3017520" y="4681728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163824" y="46268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Economia / acima da meta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Econômico – Junho 2026 e YTD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914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B6400"/>
                </a:solidFill>
                <a:latin typeface="Calibri"/>
              </a:rPr>
              <a:t>Junho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17043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2801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117957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9B6400"/>
                </a:solidFill>
                <a:latin typeface="Calibri"/>
              </a:rPr>
              <a:t>R$ 103.892,00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82880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R$ 251.875,00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17043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83080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0" y="12801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Res. Bruto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72" y="1481328"/>
            <a:ext cx="117957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-R$ 12.926,00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82880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Mg: -12.4%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73552" y="117043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73552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12801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Res. Líquido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1481328"/>
            <a:ext cx="117957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-R$ 31.618,00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82880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Mg: -30.4%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914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B6400"/>
                </a:solidFill>
                <a:latin typeface="Calibri"/>
              </a:rPr>
              <a:t>YTD Jan–Jun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1170432"/>
            <a:ext cx="1600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0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0" y="128016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Receita YTD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1481328"/>
            <a:ext cx="136245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R$ 956.093,00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182880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R$ 1.511.250,00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2552" y="1170432"/>
            <a:ext cx="1600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702552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85432" y="128016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Res. Líq. YTD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1481328"/>
            <a:ext cx="136245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D6E3A"/>
                </a:solidFill>
                <a:latin typeface="Calibri"/>
              </a:rPr>
              <a:t>R$ 94.442,00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182880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Acumulado Jan–Jun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213969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Calibri"/>
              </a:rPr>
              <a:t>Atingimento da Meta – Receita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" y="2505456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Jan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2505456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24.6%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92808" y="2577301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892808" y="2577301"/>
            <a:ext cx="482710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0" y="2505456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-190,0K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277716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Fev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2728" y="2777163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47.5%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92808" y="2849009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892808" y="2849009"/>
            <a:ext cx="934036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31920" y="277716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-132,2K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" y="304887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Mar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52728" y="3048870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136.5%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92808" y="3120716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892808" y="3120716"/>
            <a:ext cx="1965960" cy="128016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31920" y="304887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92,0K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3320578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Abr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2728" y="3320578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63.5%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92808" y="3392424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892808" y="3392424"/>
            <a:ext cx="1248231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31920" y="3320578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-92,0K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" y="3592285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Mai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52728" y="3592285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66.3%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92808" y="3664131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892808" y="3664131"/>
            <a:ext cx="1302517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31920" y="3592285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-85,0K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" y="386399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Jun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2728" y="3863993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41.2%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92808" y="3935838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892808" y="3935838"/>
            <a:ext cx="810908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31920" y="386399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-148,0K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" y="413570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YTD Acum.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52728" y="4135700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63.3%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92808" y="4207546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892808" y="4207546"/>
            <a:ext cx="1243765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931920" y="413570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-555,2K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0" y="2139696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Calibri"/>
              </a:rPr>
              <a:t>Detalhe de Custos – YTD Jan–Jun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37760" y="2414016"/>
            <a:ext cx="4206240" cy="27432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92624" y="241401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Calibri"/>
              </a:rPr>
              <a:t>Indicador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47104" y="2414016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Calibri"/>
              </a:rPr>
              <a:t>Orçado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61504" y="2414016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Calibri"/>
              </a:rPr>
              <a:t>Realizado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21624" y="241401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Calibri"/>
              </a:rPr>
              <a:t>Var%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92624" y="2688336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Receita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47104" y="268833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1.511,2K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61504" y="2688336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956,1K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21624" y="2688336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-36.7%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37760" y="2993745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92624" y="2999232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Custo Equipe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47104" y="2999232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455,4K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61504" y="2999232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469,7K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21624" y="2999232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+3.1%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7760" y="3304641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992624" y="3310127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Desp. Equipe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47104" y="3310127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32,2K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61504" y="3310127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12,8K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21624" y="3310127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-60.3%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37760" y="3615537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992624" y="3621023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Desp. Inst.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47104" y="3621023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223,5K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1504" y="3621023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213,5K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21624" y="3621023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-4.5%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3926433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937760" y="3931920"/>
            <a:ext cx="4206240" cy="310896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992624" y="3931920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Res. Bruto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47104" y="3931920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800,1K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61504" y="3931920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256,1K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21624" y="3931920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-68.0%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37760" y="4237329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937760" y="4242816"/>
            <a:ext cx="4206240" cy="310896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92624" y="4242816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Res. Líquido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47104" y="424281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555,2K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61504" y="4242816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94,4K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21624" y="4242816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-83.0%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937760" y="4548225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92608" y="4572000"/>
            <a:ext cx="4480560" cy="3657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02336" y="45720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FDB913"/>
                </a:solidFill>
                <a:latin typeface="Calibri"/>
              </a:rPr>
              <a:t>Reserva Bônus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81328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Jan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81328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-6,3K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951590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Fev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51590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-1,6K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21853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Mar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21853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D6E3A"/>
                </a:solidFill>
                <a:latin typeface="Calibri"/>
              </a:rPr>
              <a:t>17,5K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892116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Abr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92116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D6E3A"/>
                </a:solidFill>
                <a:latin typeface="Calibri"/>
              </a:rPr>
              <a:t>1,3K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62379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Mai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62379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D6E3A"/>
                </a:solidFill>
                <a:latin typeface="Calibri"/>
              </a:rPr>
              <a:t>1,7K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32642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Jun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832642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-3,2K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02905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YTD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02905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D6E3A"/>
                </a:solidFill>
                <a:latin typeface="Calibri"/>
              </a:rPr>
              <a:t>9,4K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DRE Econômico – YTD Jan–Jun: Orçado vs. Realizado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960120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Descrição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960120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Orçado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960120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Realizado YTD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960120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Variação R$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960120"/>
            <a:ext cx="9052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Var%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96012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2608" y="1216152"/>
            <a:ext cx="8558784" cy="21488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1216152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Receita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1" y="1216152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1.511,2K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1216152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956,1K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1216152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-555,2K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1216152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-36.7%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142554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1431036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Custo Equipe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1" y="1431036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455,4K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1431036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469,7K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1431036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+14,3K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1431036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+3.1%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164043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1645919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Participação/Comissão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64591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0,0K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164591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4,1K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164591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+4,1K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1645919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1855317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" y="1860803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Despesas Equipe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1" y="186080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32,2K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186080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12,8K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186080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-19,4K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1860803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-60.3%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207020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2075687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Despesas Institucionais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4991" y="207568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223,5K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207568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213,5K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207568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-10,0K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2075687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228508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92608" y="2290571"/>
            <a:ext cx="8558784" cy="21488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2290571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Resultado Bruto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4991" y="229057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800,1K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82312" y="229057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256,1K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1" y="229057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-544,0K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6952" y="2290571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-68.0%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" y="249996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92608" y="2505455"/>
            <a:ext cx="8558784" cy="214884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7472" y="2505455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Margem Bruta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1" y="250545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52.9%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82312" y="250545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26.8%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9631" y="250545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-26.2pp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6952" y="2505455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" y="271485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2720339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Impostos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64991" y="272033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226,7K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82312" y="272033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143,4K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9631" y="272033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-83,3K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16952" y="2720339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-36.7%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" y="2929737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47472" y="2935223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Invest./Amortização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64991" y="293522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18,3K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82312" y="293522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18,2K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9631" y="293522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-0,0K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16952" y="2935223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-0.0%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608" y="314462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92608" y="3150107"/>
            <a:ext cx="8558784" cy="21488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47472" y="3150107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Resultado Líquido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4991" y="315010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555,2K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82312" y="315010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94,4K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9631" y="315010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DB913"/>
                </a:solidFill>
                <a:latin typeface="Calibri"/>
              </a:rPr>
              <a:t>-460,8K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16952" y="3150107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DB913"/>
                </a:solidFill>
                <a:latin typeface="Calibri"/>
              </a:rPr>
              <a:t>-83.0%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2608" y="335950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92608" y="3364991"/>
            <a:ext cx="8558784" cy="214884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47472" y="3364991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Margem Líquida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64991" y="336499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36.7%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82312" y="336499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9.9%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99631" y="336499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-26.9pp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16952" y="3364991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2608" y="357438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47472" y="3579875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Reserva de Bônus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64991" y="357987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55,5K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82312" y="357987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9,4K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99631" y="357987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-46,1K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16952" y="3579875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-83.0%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2608" y="378927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668511" y="127787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8668511" y="1492757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8668511" y="1707641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8668511" y="1922526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668511" y="2137410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668511" y="235229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8668511" y="2782061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8668511" y="2996945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668511" y="3211829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668511" y="3641597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310896" y="4681728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57200" y="462686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Desvio crítico</a:t>
            </a:r>
          </a:p>
        </p:txBody>
      </p:sp>
      <p:sp>
        <p:nvSpPr>
          <p:cNvPr id="104" name="Oval 103"/>
          <p:cNvSpPr/>
          <p:nvPr/>
        </p:nvSpPr>
        <p:spPr>
          <a:xfrm>
            <a:off x="1783080" y="4681728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929384" y="4626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Atenção</a:t>
            </a:r>
          </a:p>
        </p:txBody>
      </p:sp>
      <p:sp>
        <p:nvSpPr>
          <p:cNvPr id="106" name="Oval 105"/>
          <p:cNvSpPr/>
          <p:nvPr/>
        </p:nvSpPr>
        <p:spPr>
          <a:xfrm>
            <a:off x="3017520" y="4681728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163824" y="46268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Economia / acima da meta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Arbitragem &amp; Compliance – Junho 2026 e YTD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914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B6400"/>
                </a:solidFill>
                <a:latin typeface="Calibri"/>
              </a:rPr>
              <a:t>Junho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17043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2801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117957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9B6400"/>
                </a:solidFill>
                <a:latin typeface="Calibri"/>
              </a:rPr>
              <a:t>R$ 102.714,00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82880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R$ 167.917,00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17043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83080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0" y="12801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Res. Bruto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72" y="1481328"/>
            <a:ext cx="117957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0D6E3A"/>
                </a:solidFill>
                <a:latin typeface="Calibri"/>
              </a:rPr>
              <a:t>R$ 13.253,00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82880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Mg: 12.9%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73552" y="1170432"/>
            <a:ext cx="14173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73552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12801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Res. Líquido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1481328"/>
            <a:ext cx="117957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-R$ 4.253,00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82880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Mg: -4.1%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914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B6400"/>
                </a:solidFill>
                <a:latin typeface="Calibri"/>
              </a:rPr>
              <a:t>YTD Jan–Jun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1170432"/>
            <a:ext cx="1600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0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0" y="128016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Receita YTD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1481328"/>
            <a:ext cx="136245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R$ 457.169,00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182880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Meta: R$ 1.007.502,00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2552" y="1170432"/>
            <a:ext cx="1600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702552" y="1170432"/>
            <a:ext cx="54864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85432" y="128016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Res. Líq. YTD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1481328"/>
            <a:ext cx="136245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-R$ 135.916,00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182880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Acumulado Jan–Jun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213969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Calibri"/>
              </a:rPr>
              <a:t>Atingimento da Meta – Receita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" y="2505456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Jan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2505456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79.3%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92808" y="2577301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892808" y="2577301"/>
            <a:ext cx="1559132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0" y="2505456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-34,7K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277716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Fev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2728" y="2777163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37.2%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92808" y="2849009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892808" y="2849009"/>
            <a:ext cx="731815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31920" y="277716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-105,4K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" y="304887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Mar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52728" y="3048870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67.6%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92808" y="3120716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892808" y="3120716"/>
            <a:ext cx="1328194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31920" y="304887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-54,5K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3320578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Abr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2728" y="3320578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2.1%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92808" y="3392424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892808" y="3392424"/>
            <a:ext cx="40696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31920" y="3320578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-164,4K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" y="3592285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Mai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52728" y="3592285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24.9%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92808" y="3664131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892808" y="3664131"/>
            <a:ext cx="490093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31920" y="3592285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-126,1K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" y="386399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Jun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2728" y="3863993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61.2%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92808" y="3935838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892808" y="3935838"/>
            <a:ext cx="1202568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31920" y="3863993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-65,2K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" y="413570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alibri"/>
              </a:rPr>
              <a:t>YTD Acum.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52728" y="4135700"/>
            <a:ext cx="54864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9B6400"/>
                </a:solidFill>
                <a:latin typeface="Calibri"/>
              </a:rPr>
              <a:t>45.4%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92808" y="4207546"/>
            <a:ext cx="1965960" cy="128016"/>
          </a:xfrm>
          <a:prstGeom prst="rect">
            <a:avLst/>
          </a:prstGeom>
          <a:solidFill>
            <a:srgbClr val="EC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892808" y="4207546"/>
            <a:ext cx="892083" cy="128016"/>
          </a:xfrm>
          <a:prstGeom prst="rect">
            <a:avLst/>
          </a:prstGeom>
          <a:solidFill>
            <a:srgbClr val="9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931920" y="4135700"/>
            <a:ext cx="960120" cy="271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Gap: -550,3K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0" y="2139696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Calibri"/>
              </a:rPr>
              <a:t>Detalhe de Custos – YTD Jan–Jun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37760" y="2414016"/>
            <a:ext cx="4206240" cy="27432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92624" y="241401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Calibri"/>
              </a:rPr>
              <a:t>Indicador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47104" y="2414016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Calibri"/>
              </a:rPr>
              <a:t>Orçado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61504" y="2414016"/>
            <a:ext cx="8503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Calibri"/>
              </a:rPr>
              <a:t>Realizado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21624" y="2414016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Calibri"/>
              </a:rPr>
              <a:t>Var%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92624" y="2688336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Receita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47104" y="268833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1.007,5K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61504" y="2688336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457,2K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21624" y="2688336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-54.6%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37760" y="2993745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92624" y="2999232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Custo Equipe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47104" y="2999232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323,9K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61504" y="2999232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336,8K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21624" y="2999232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+4.0%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7760" y="3304641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992624" y="3310127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Desp. Equipe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47104" y="3310127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24,6K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61504" y="3310127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21,9K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21624" y="3310127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-10.8%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37760" y="3615537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992624" y="3621023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Desp. Inst.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47104" y="3621023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152,4K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1504" y="3621023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152,7K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21624" y="3621023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+0.2%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3926433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937760" y="3931920"/>
            <a:ext cx="4206240" cy="310896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992624" y="3931920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Res. Bruto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47104" y="3931920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506,7K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61504" y="3931920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-54,3K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21624" y="3931920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-110.7%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37760" y="4237329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937760" y="4242816"/>
            <a:ext cx="4206240" cy="310896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92624" y="4242816"/>
            <a:ext cx="14447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Res. Líquido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47104" y="4242816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343,1K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61504" y="4242816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-135,9K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21624" y="4242816"/>
            <a:ext cx="6675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-139.6%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937760" y="4548225"/>
            <a:ext cx="4206240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92608" y="4572000"/>
            <a:ext cx="4480560" cy="3657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02336" y="45720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FDB913"/>
                </a:solidFill>
                <a:latin typeface="Calibri"/>
              </a:rPr>
              <a:t>Reserva Bônus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81328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Jan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81328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D6E3A"/>
                </a:solidFill>
                <a:latin typeface="Calibri"/>
              </a:rPr>
              <a:t>2,0K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951590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Fev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51590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-3,8K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21853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Mar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21853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D6E3A"/>
                </a:solidFill>
                <a:latin typeface="Calibri"/>
              </a:rPr>
              <a:t>1,8K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892116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Abr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92116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-8,3K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62379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Mai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62379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-4,8K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32642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Jun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832642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-0,4K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02905" y="4599432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BBBBB8"/>
                </a:solidFill>
                <a:latin typeface="Calibri"/>
              </a:rPr>
              <a:t>YTD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02905" y="4745736"/>
            <a:ext cx="47026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-13,6K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DRE Arbitragem &amp; Compliance – YTD Jan–Jun: Orçado vs. Realizado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960120"/>
            <a:ext cx="8558784" cy="2560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960120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Descrição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1" y="960120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Orçado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960120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Realizado YTD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960120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Variação R$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960120"/>
            <a:ext cx="9052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Var%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96012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2608" y="1216152"/>
            <a:ext cx="8558784" cy="21488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1216152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Receita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1" y="1216152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1.007,5K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1216152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457,2K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1216152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-550,3K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1216152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-54.6%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142554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1431036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Custo Equipe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1" y="1431036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323,9K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1431036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336,8K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1431036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+12,9K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1431036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+4.0%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164043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1645919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Participação/Comissão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164591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0,0K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164591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0,0K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164591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+0,0K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1645919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1855317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" y="1860803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Despesas Equipe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1" y="186080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24,6K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186080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21,9K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186080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-2,7K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1860803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-10.8%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207020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2075687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Despesas Institucionais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4991" y="207568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152,4K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207568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152,7K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207568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+0,3K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2075687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+0.2%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228508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92608" y="2290571"/>
            <a:ext cx="8558784" cy="21488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2290571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Calibri"/>
              </a:rPr>
              <a:t>Resultado Bruto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4991" y="229057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506,7K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82312" y="229057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  <a:latin typeface="Calibri"/>
              </a:rPr>
              <a:t>-54,3K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1" y="229057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-561,0K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6952" y="2290571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-110.7%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" y="249996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92608" y="2505455"/>
            <a:ext cx="8558784" cy="214884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7472" y="2505455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Margem Bruta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4991" y="250545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50.3%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82312" y="250545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-11.9%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9631" y="250545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-62.2pp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6952" y="2505455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" y="271485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2720339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Impostos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64991" y="272033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151,1K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82312" y="272033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68,6K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9631" y="2720339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0D6E3A"/>
                </a:solidFill>
                <a:latin typeface="Calibri"/>
              </a:rPr>
              <a:t>-82,5K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16952" y="2720339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0D6E3A"/>
                </a:solidFill>
                <a:latin typeface="Calibri"/>
              </a:rPr>
              <a:t>-54.6%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" y="2929737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47472" y="2935223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Invest./Amortização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64991" y="293522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12,4K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82312" y="293522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13,1K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9631" y="2935223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+0,6K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16952" y="2935223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+5.0%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608" y="314462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92608" y="3150107"/>
            <a:ext cx="8558784" cy="21488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47472" y="3150107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Resultado Líquido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4991" y="315010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343,1K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82312" y="315010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-135,9K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9631" y="3150107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DB913"/>
                </a:solidFill>
                <a:latin typeface="Calibri"/>
              </a:rPr>
              <a:t>-479,0K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16952" y="3150107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FDB913"/>
                </a:solidFill>
                <a:latin typeface="Calibri"/>
              </a:rPr>
              <a:t>-139.6%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2608" y="335950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92608" y="3364991"/>
            <a:ext cx="8558784" cy="214884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47472" y="3364991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Margem Líquida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64991" y="336499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34.1%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82312" y="336499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-29.7%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99631" y="3364991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-63.8pp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16952" y="3364991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2608" y="357438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47472" y="3579875"/>
            <a:ext cx="2907791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Reserva de Bônus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64991" y="357987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34,3K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82312" y="357987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111111"/>
                </a:solidFill>
                <a:latin typeface="Calibri"/>
              </a:rPr>
              <a:t>-13,6K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99631" y="3579875"/>
            <a:ext cx="1307592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C0392B"/>
                </a:solidFill>
                <a:latin typeface="Calibri"/>
              </a:rPr>
              <a:t>-47,9K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16952" y="3579875"/>
            <a:ext cx="905256" cy="214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0392B"/>
                </a:solidFill>
                <a:latin typeface="Calibri"/>
              </a:rPr>
              <a:t>-139.6%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2608" y="378927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668511" y="127787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8668511" y="1492757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8668511" y="1707641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8668511" y="1922526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668511" y="2137410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668511" y="235229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8668511" y="2782061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8668511" y="2996945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668511" y="3211829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8668511" y="3641597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310896" y="4681728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57200" y="462686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Desvio crítico</a:t>
            </a:r>
          </a:p>
        </p:txBody>
      </p:sp>
      <p:sp>
        <p:nvSpPr>
          <p:cNvPr id="104" name="Oval 103"/>
          <p:cNvSpPr/>
          <p:nvPr/>
        </p:nvSpPr>
        <p:spPr>
          <a:xfrm>
            <a:off x="1783080" y="4681728"/>
            <a:ext cx="91440" cy="91440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929384" y="4626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Atenção</a:t>
            </a:r>
          </a:p>
        </p:txBody>
      </p:sp>
      <p:sp>
        <p:nvSpPr>
          <p:cNvPr id="106" name="Oval 105"/>
          <p:cNvSpPr/>
          <p:nvPr/>
        </p:nvSpPr>
        <p:spPr>
          <a:xfrm>
            <a:off x="3017520" y="4681728"/>
            <a:ext cx="91440" cy="91440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163824" y="46268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Economia / acima da meta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Reserva de Bônus – Consolidado YTD Jan–Jun 2026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914400"/>
            <a:ext cx="8558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55555"/>
                </a:solidFill>
                <a:latin typeface="Calibri"/>
              </a:rPr>
              <a:t>A reserva de bônus é constituída mensalmente com base no resultado líquido de cada área. Positivo = acúmulo de provisão; Negativo = consumo.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325880"/>
            <a:ext cx="2057400" cy="777240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" y="1325880"/>
            <a:ext cx="54864" cy="77724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Bônus YTD – Institucional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276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-11,5K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Jun: -10,0K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9736" y="1325880"/>
            <a:ext cx="2057400" cy="777240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59736" y="1325880"/>
            <a:ext cx="54864" cy="77724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24328" y="141732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Bônus YTD – Contencioso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16276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-9,6K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192024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Jun: -8,2K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6864" y="1325880"/>
            <a:ext cx="2057400" cy="777240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26864" y="1325880"/>
            <a:ext cx="54864" cy="77724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91456" y="141732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Bônus YTD – Econômico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16276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D6E3A"/>
                </a:solidFill>
                <a:latin typeface="Calibri"/>
              </a:rPr>
              <a:t>9,4K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192024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Jun: -3,2K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93992" y="1325880"/>
            <a:ext cx="2057400" cy="777240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93992" y="1325880"/>
            <a:ext cx="54864" cy="77724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58584" y="141732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55555"/>
                </a:solidFill>
                <a:latin typeface="Calibri"/>
              </a:rPr>
              <a:t>Bônus YTD – Arbitragem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4" y="16276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-13,6K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192024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Jun: -0,4K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2286000"/>
            <a:ext cx="8558784" cy="36576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2286000"/>
            <a:ext cx="162763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 i="0">
                <a:solidFill>
                  <a:srgbClr val="000000"/>
                </a:solidFill>
                <a:latin typeface="Calibri"/>
              </a:rPr>
              <a:t>Área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1" y="2286000"/>
            <a:ext cx="8214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000000"/>
                </a:solidFill>
                <a:latin typeface="Calibri"/>
              </a:rPr>
              <a:t>Janeiro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5996" y="2286000"/>
            <a:ext cx="8214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000000"/>
                </a:solidFill>
                <a:latin typeface="Calibri"/>
              </a:rPr>
              <a:t>Fevereiro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47160" y="2286000"/>
            <a:ext cx="8214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000000"/>
                </a:solidFill>
                <a:latin typeface="Calibri"/>
              </a:rPr>
              <a:t>Março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8324" y="2286000"/>
            <a:ext cx="8214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000000"/>
                </a:solidFill>
                <a:latin typeface="Calibri"/>
              </a:rPr>
              <a:t>Abril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9488" y="2286000"/>
            <a:ext cx="8214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000000"/>
                </a:solidFill>
                <a:latin typeface="Calibri"/>
              </a:rPr>
              <a:t>Maio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0652" y="2286000"/>
            <a:ext cx="8214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000000"/>
                </a:solidFill>
                <a:latin typeface="Calibri"/>
              </a:rPr>
              <a:t>Junho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1816" y="2286000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000000"/>
                </a:solidFill>
                <a:latin typeface="Calibri"/>
              </a:rPr>
              <a:t>YTD Acumulado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2651760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Institucional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84831" y="26517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-8,2K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5996" y="26517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-5,0K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47160" y="26517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21,2K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78324" y="26517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-12,5K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9488" y="26517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3,0K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0652" y="26517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-10,0K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71816" y="2651760"/>
            <a:ext cx="11247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-11,5K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" y="310347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92608" y="3108960"/>
            <a:ext cx="8558784" cy="4572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7472" y="3108960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Contencioso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84831" y="31089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-7,9K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5996" y="31089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2,4K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47160" y="31089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2,3K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8324" y="31089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-7,1K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9488" y="31089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9,0K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0652" y="31089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-8,2K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1816" y="3108960"/>
            <a:ext cx="11247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-9,6K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" y="356067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7472" y="3566160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Econômico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84831" y="35661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-6,3K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15996" y="35661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-1,6K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47160" y="35661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17,5K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78324" y="35661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1,3K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9488" y="35661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1,7K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0652" y="35661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-3,2K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71816" y="3566160"/>
            <a:ext cx="11247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D6E3A"/>
                </a:solidFill>
                <a:latin typeface="Calibri"/>
              </a:rPr>
              <a:t>9,4K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" y="401787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92608" y="4023360"/>
            <a:ext cx="8558784" cy="4572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47472" y="4023360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alibri"/>
              </a:rPr>
              <a:t>Arbitragem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84831" y="40233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2,0K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5996" y="40233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-3,8K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47160" y="40233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0D6E3A"/>
                </a:solidFill>
                <a:latin typeface="Calibri"/>
              </a:rPr>
              <a:t>1,8K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78324" y="40233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-8,3K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09488" y="40233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-4,8K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40652" y="4023360"/>
            <a:ext cx="8214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-0,4K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71816" y="4023360"/>
            <a:ext cx="11247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-13,6K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2608" y="447507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Resumo Comparativo – YTD Jan–Jun 2026 por Área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1188720"/>
            <a:ext cx="8558784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188720"/>
            <a:ext cx="14447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Área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188720"/>
            <a:ext cx="12161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Meta Rec. YTD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1188720"/>
            <a:ext cx="117043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Receita YTD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1" y="1188720"/>
            <a:ext cx="117043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Gap vs 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1" y="1188720"/>
            <a:ext cx="8046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Ating.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1" y="1188720"/>
            <a:ext cx="103327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Res. Líq. YTD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1188720"/>
            <a:ext cx="9509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Bônus YTD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1609344"/>
            <a:ext cx="14447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Calibri"/>
              </a:rPr>
              <a:t>Institucional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1609344"/>
            <a:ext cx="12161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111111"/>
                </a:solidFill>
                <a:latin typeface="Calibri"/>
              </a:rPr>
              <a:t>4.030,0K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1609344"/>
            <a:ext cx="117043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111111"/>
                </a:solidFill>
                <a:latin typeface="Calibri"/>
              </a:rPr>
              <a:t>2.130,8K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1" y="1609344"/>
            <a:ext cx="117043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-1.899,2K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1" y="1609344"/>
            <a:ext cx="8046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-47.1%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1" y="1609344"/>
            <a:ext cx="103327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-114,5K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1609344"/>
            <a:ext cx="95097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-11,5K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" y="2170785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2608" y="2176272"/>
            <a:ext cx="8558784" cy="56692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" y="2176272"/>
            <a:ext cx="14447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Calibri"/>
              </a:rPr>
              <a:t>Contencioso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2176272"/>
            <a:ext cx="12161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111111"/>
                </a:solidFill>
                <a:latin typeface="Calibri"/>
              </a:rPr>
              <a:t>1.511,2K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7832" y="2176272"/>
            <a:ext cx="117043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111111"/>
                </a:solidFill>
                <a:latin typeface="Calibri"/>
              </a:rPr>
              <a:t>690,8K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1" y="2176272"/>
            <a:ext cx="117043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-820,4K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1" y="2176272"/>
            <a:ext cx="8046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-54.3%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1" y="2176272"/>
            <a:ext cx="103327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-95,8K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2176272"/>
            <a:ext cx="95097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-9,6K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" y="2737713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" y="2743200"/>
            <a:ext cx="14447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Calibri"/>
              </a:rPr>
              <a:t>Econômico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952" y="2743200"/>
            <a:ext cx="12161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111111"/>
                </a:solidFill>
                <a:latin typeface="Calibri"/>
              </a:rPr>
              <a:t>1.511,2K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7832" y="2743200"/>
            <a:ext cx="117043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111111"/>
                </a:solidFill>
                <a:latin typeface="Calibri"/>
              </a:rPr>
              <a:t>956,1K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1" y="2743200"/>
            <a:ext cx="117043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-555,2K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8151" y="2743200"/>
            <a:ext cx="8046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-36.7%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2551" y="2743200"/>
            <a:ext cx="103327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D6E3A"/>
                </a:solidFill>
                <a:latin typeface="Calibri"/>
              </a:rPr>
              <a:t>94,4K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743200"/>
            <a:ext cx="95097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0D6E3A"/>
                </a:solidFill>
                <a:latin typeface="Calibri"/>
              </a:rPr>
              <a:t>9,4K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" y="3304641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92608" y="3310128"/>
            <a:ext cx="8558784" cy="56692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" y="3310128"/>
            <a:ext cx="14447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11111"/>
                </a:solidFill>
                <a:latin typeface="Calibri"/>
              </a:rPr>
              <a:t>Arbitragem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3310128"/>
            <a:ext cx="12161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111111"/>
                </a:solidFill>
                <a:latin typeface="Calibri"/>
              </a:rPr>
              <a:t>1.007,5K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27832" y="3310128"/>
            <a:ext cx="117043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111111"/>
                </a:solidFill>
                <a:latin typeface="Calibri"/>
              </a:rPr>
              <a:t>457,2K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7991" y="3310128"/>
            <a:ext cx="117043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-550,3K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88151" y="3310128"/>
            <a:ext cx="8046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-54.6%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02551" y="3310128"/>
            <a:ext cx="103327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-135,9K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5552" y="3310128"/>
            <a:ext cx="95097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-13,6K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" y="3871569"/>
            <a:ext cx="8558784" cy="5486"/>
          </a:xfrm>
          <a:prstGeom prst="rect">
            <a:avLst/>
          </a:prstGeom>
          <a:solidFill>
            <a:srgbClr val="E0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92608" y="4160520"/>
            <a:ext cx="8558784" cy="56692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416052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B6400"/>
                </a:solidFill>
                <a:latin typeface="Calibri"/>
              </a:rPr>
              <a:t>Leitura: </a:t>
            </a:r>
            <a:r>
              <a:rPr sz="1000" b="0" i="0">
                <a:solidFill>
                  <a:srgbClr val="111111"/>
                </a:solidFill>
                <a:latin typeface="Calibri"/>
              </a:rPr>
              <a:t>Econômico é a única área positiva (R$ 94K). Contencioso e Arbitragem seguem no vermelho (-R$ 96K e -R$ 136K). Receita consolidada a 52,9% da meta acumulada do semestre.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i="0">
                <a:solidFill>
                  <a:srgbClr val="111111"/>
                </a:solidFill>
                <a:latin typeface="Calibri"/>
              </a:rPr>
              <a:t>Pontos de Atenção – Rumo à Meta 2026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83464"/>
            <a:ext cx="1133856" cy="27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960120"/>
            <a:ext cx="1371600" cy="56692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0241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Receita YTD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1615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-47,1%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28216" y="960120"/>
            <a:ext cx="1371600" cy="56692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19656" y="10241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Resultado Líquido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9656" y="121615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-R$ 114,5K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3824" y="960120"/>
            <a:ext cx="1371600" cy="56692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55264" y="10241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Margem Bruta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121615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9B6400"/>
                </a:solidFill>
                <a:latin typeface="Calibri"/>
              </a:rPr>
              <a:t>11,9%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9432" y="960120"/>
            <a:ext cx="1371600" cy="56692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0872" y="10241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121615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-5,4%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960120"/>
            <a:ext cx="1371600" cy="56692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10241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Desp. Diretas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21615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9B6400"/>
                </a:solidFill>
                <a:latin typeface="Calibri"/>
              </a:rPr>
              <a:t>+2,4%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0648" y="960120"/>
            <a:ext cx="1371600" cy="566928"/>
          </a:xfrm>
          <a:prstGeom prst="rect">
            <a:avLst/>
          </a:prstGeom>
          <a:solidFill>
            <a:srgbClr val="F9F9F7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2088" y="10241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Desp. Indiretas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121615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D6E3A"/>
                </a:solidFill>
                <a:latin typeface="Calibri"/>
              </a:rPr>
              <a:t>-8,9%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1627632"/>
            <a:ext cx="4224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2608" y="1627632"/>
            <a:ext cx="64008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" y="176479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1709928"/>
            <a:ext cx="37673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>
                <a:solidFill>
                  <a:srgbClr val="111111"/>
                </a:solidFill>
                <a:latin typeface="Calibri"/>
              </a:rPr>
              <a:t>Receita: -47,1% abaixo da meta do semestre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956816"/>
            <a:ext cx="37216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55555"/>
                </a:solidFill>
                <a:latin typeface="Calibri"/>
              </a:rPr>
              <a:t>Receita YTD R$ 2.131K vs meta R$ 4.030K (-R$ 1.899K). Se o 2º semestre apenas cumprir o orçado (sem recuperação), o ano fecha em ~76% da meta de receita (-R$ 1,9M).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627632"/>
            <a:ext cx="4224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46320" y="1627632"/>
            <a:ext cx="64008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10912" y="176479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80" y="1709928"/>
            <a:ext cx="37673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>
                <a:solidFill>
                  <a:srgbClr val="111111"/>
                </a:solidFill>
                <a:latin typeface="Calibri"/>
              </a:rPr>
              <a:t>Arbitragem: virada de +R$ 233K para -R$ 136K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1956816"/>
            <a:ext cx="37216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55555"/>
                </a:solidFill>
                <a:latin typeface="Calibri"/>
              </a:rPr>
              <a:t>Sozinha explica toda a piora do semestre. Receita caiu 56% (R$ 1.039K para R$ 457K). Exige plano de geração de demanda e revisão da estrutura de custo fixo da área.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2505456"/>
            <a:ext cx="4224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2608" y="2505456"/>
            <a:ext cx="64008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57200" y="2642616"/>
            <a:ext cx="109728" cy="109728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2587752"/>
            <a:ext cx="37673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>
                <a:solidFill>
                  <a:srgbClr val="111111"/>
                </a:solidFill>
                <a:latin typeface="Calibri"/>
              </a:rPr>
              <a:t>Resultado Líquido: para bater a meta anual, 2S precisa +108% vs. orçado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834640"/>
            <a:ext cx="37216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55555"/>
                </a:solidFill>
                <a:latin typeface="Calibri"/>
              </a:rPr>
              <a:t>Orçado para o 2º semestre é R$ 1.459K de RL. Para fechar o ano na meta (R$ 2.928K), seria preciso entregar R$ 3.043K no 2S — 2,1x o orçado. Meta anual em risco sem ação corretiva.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2505456"/>
            <a:ext cx="4224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46320" y="2505456"/>
            <a:ext cx="64008" cy="786384"/>
          </a:xfrm>
          <a:prstGeom prst="rect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010912" y="2642616"/>
            <a:ext cx="109728" cy="109728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80" y="2587752"/>
            <a:ext cx="37673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>
                <a:solidFill>
                  <a:srgbClr val="111111"/>
                </a:solidFill>
                <a:latin typeface="Calibri"/>
              </a:rPr>
              <a:t>Econômico sustenta o semestre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2834640"/>
            <a:ext cx="37216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55555"/>
                </a:solidFill>
                <a:latin typeface="Calibri"/>
              </a:rPr>
              <a:t>Resultado líquido +R$ 94K, melhor área do período, mesmo com receita 16% menor que 2025. Ganho de eficiência de custo compensou a retração de receita.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" y="3383280"/>
            <a:ext cx="4224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92608" y="3383280"/>
            <a:ext cx="64008" cy="786384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57200" y="3520440"/>
            <a:ext cx="109728" cy="109728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" y="3465576"/>
            <a:ext cx="37673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>
                <a:solidFill>
                  <a:srgbClr val="111111"/>
                </a:solidFill>
                <a:latin typeface="Calibri"/>
              </a:rPr>
              <a:t>Contencioso: custo de equipe não acompanhou a queda de receita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3712464"/>
            <a:ext cx="37216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55555"/>
                </a:solidFill>
                <a:latin typeface="Calibri"/>
              </a:rPr>
              <a:t>Receita YTD -18% vs 1S25, mas custo de equipe praticamente estável — pressiona a margem. Resultado líquido piorou para -R$ 96K (-R$ 61K vs 1S25).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3383280"/>
            <a:ext cx="4224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846320" y="3383280"/>
            <a:ext cx="64008" cy="786384"/>
          </a:xfrm>
          <a:prstGeom prst="rect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010912" y="3520440"/>
            <a:ext cx="109728" cy="109728"/>
          </a:xfrm>
          <a:prstGeom prst="ellipse">
            <a:avLst/>
          </a:prstGeom>
          <a:solidFill>
            <a:srgbClr val="0D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12080" y="3465576"/>
            <a:ext cx="37673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>
                <a:solidFill>
                  <a:srgbClr val="111111"/>
                </a:solidFill>
                <a:latin typeface="Calibri"/>
              </a:rPr>
              <a:t>Disciplina de custos institucionais preservada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3712464"/>
            <a:ext cx="372160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55555"/>
                </a:solidFill>
                <a:latin typeface="Calibri"/>
              </a:rPr>
              <a:t>Despesas indiretas -8,9% vs orçado YTD (R$ 619K vs R$ 679K). Despesas totais caíram 18% vs 1S25 — não foi suficiente para compensar a queda de 30% na receita.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" y="4334256"/>
            <a:ext cx="8558784" cy="45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4334256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i="0">
                <a:solidFill>
                  <a:srgbClr val="FDB913"/>
                </a:solidFill>
                <a:latin typeface="Calibri"/>
              </a:rPr>
              <a:t>Recomendação prioritária: </a:t>
            </a:r>
            <a:r>
              <a:rPr sz="919" b="0" i="0">
                <a:solidFill>
                  <a:srgbClr val="FFFFFF"/>
                </a:solidFill>
                <a:latin typeface="Calibri"/>
              </a:rPr>
              <a:t>concentrar o esforço do 2S em Arbitragem (pipeline de casos e disciplina de custo fixo) — é o único fator que, isolado, devolve o escritório à trajetória da meta.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Marchini Botelho Caselta  ·  Relatório Janeiro–Junho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488289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9144000" cy="4572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960120"/>
            <a:ext cx="1645920" cy="395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DB913"/>
                </a:solidFill>
                <a:latin typeface="Calibri"/>
              </a:rPr>
              <a:t>Rumo Gestão de Negócios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CCCC8"/>
                </a:solidFill>
                <a:latin typeface="Calibri"/>
              </a:rPr>
              <a:t>Estamos à disposição para esclarecer quaisquer dúvidas sobre os resultados apresentados.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Julho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Marchini Botelho Caselta | Relatório Janeiro–Junho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25FB8CCE1BC554F90231232FC76387A" ma:contentTypeVersion="10" ma:contentTypeDescription="Crie um novo documento." ma:contentTypeScope="" ma:versionID="c93c67a075b03b75d2040761bed7633f">
  <xsd:schema xmlns:xsd="http://www.w3.org/2001/XMLSchema" xmlns:xs="http://www.w3.org/2001/XMLSchema" xmlns:p="http://schemas.microsoft.com/office/2006/metadata/properties" xmlns:ns2="d129b9c5-ff64-40f8-862d-47683c61f381" xmlns:ns3="e17ae799-5f1c-404c-ba16-6cb5104baae7" targetNamespace="http://schemas.microsoft.com/office/2006/metadata/properties" ma:root="true" ma:fieldsID="959de20e0ad0dc8858950a06036c0ecf" ns2:_="" ns3:_="">
    <xsd:import namespace="d129b9c5-ff64-40f8-862d-47683c61f381"/>
    <xsd:import namespace="e17ae799-5f1c-404c-ba16-6cb5104baa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9b9c5-ff64-40f8-862d-47683c61f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bf0e258f-2fea-4f6d-8c61-f300350784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ae799-5f1c-404c-ba16-6cb5104baae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6af7c5e-a918-46f7-902a-183581c48a25}" ma:internalName="TaxCatchAll" ma:showField="CatchAllData" ma:web="e17ae799-5f1c-404c-ba16-6cb5104baa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17ae799-5f1c-404c-ba16-6cb5104baae7" xsi:nil="true"/>
    <lcf76f155ced4ddcb4097134ff3c332f xmlns="d129b9c5-ff64-40f8-862d-47683c61f3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7C2CF42-7650-421A-ABCB-7126B248AA83}"/>
</file>

<file path=customXml/itemProps2.xml><?xml version="1.0" encoding="utf-8"?>
<ds:datastoreItem xmlns:ds="http://schemas.openxmlformats.org/officeDocument/2006/customXml" ds:itemID="{B5236E4B-DEF0-4D49-99DD-8366577117FE}"/>
</file>

<file path=customXml/itemProps3.xml><?xml version="1.0" encoding="utf-8"?>
<ds:datastoreItem xmlns:ds="http://schemas.openxmlformats.org/officeDocument/2006/customXml" ds:itemID="{72E3BF2C-828D-4224-8C53-90F8BC2BC0EC}"/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2738</Words>
  <Application>Microsoft Office PowerPoint</Application>
  <PresentationFormat>Apresentação na tela (16:9)</PresentationFormat>
  <Paragraphs>929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Adriana Ramos | Rumo Gestão</dc:creator>
  <cp:keywords/>
  <dc:description>generated using python-pptx</dc:description>
  <cp:lastModifiedBy>Adriana Ramos | Rumo Gestão</cp:lastModifiedBy>
  <cp:revision>1</cp:revision>
  <dcterms:created xsi:type="dcterms:W3CDTF">2013-01-27T09:14:16Z</dcterms:created>
  <dcterms:modified xsi:type="dcterms:W3CDTF">2026-07-20T23:47:57Z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0x010100725FB8CCE1BC554F90231232FC76387A</vt:lpwstr>
  </property>
</Properties>
</file>